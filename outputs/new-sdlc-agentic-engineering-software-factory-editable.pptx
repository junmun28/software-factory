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db075919b4b73" /><Relationship Type="http://schemas.openxmlformats.org/officeDocument/2006/relationships/extended-properties" Target="/docProps/app.xml" Id="Re12d2d85fa2e4c1b" /><Relationship Type="http://schemas.openxmlformats.org/officeDocument/2006/relationships/officeDocument" Target="/ppt/presentation.xml" Id="R32b06483f4ef48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6713f396ef4a7a"/>
  </p:sldMasterIdLst>
  <p:notesMasterIdLst>
    <p:notesMasterId xmlns:r="http://schemas.openxmlformats.org/officeDocument/2006/relationships" r:id="R7e9935d6fc1649cc"/>
  </p:notesMasterIdLst>
  <p:sldIdLst>
    <p:sldId xmlns:r="http://schemas.openxmlformats.org/officeDocument/2006/relationships" id="256" r:id="R1f3d4a99acf6434a"/>
    <p:sldId xmlns:r="http://schemas.openxmlformats.org/officeDocument/2006/relationships" id="257" r:id="R3aed365bbd2c402b"/>
    <p:sldId xmlns:r="http://schemas.openxmlformats.org/officeDocument/2006/relationships" id="258" r:id="Rc9426d67a836493b"/>
    <p:sldId xmlns:r="http://schemas.openxmlformats.org/officeDocument/2006/relationships" id="259" r:id="Rbf378c582c3a4a82"/>
    <p:sldId xmlns:r="http://schemas.openxmlformats.org/officeDocument/2006/relationships" id="260" r:id="R16ba9d94dc464e96"/>
    <p:sldId xmlns:r="http://schemas.openxmlformats.org/officeDocument/2006/relationships" id="261" r:id="R55fab6cee71a4e6c"/>
    <p:sldId xmlns:r="http://schemas.openxmlformats.org/officeDocument/2006/relationships" id="262" r:id="Re5413b59fe7a4b5e"/>
    <p:sldId xmlns:r="http://schemas.openxmlformats.org/officeDocument/2006/relationships" id="263" r:id="R2d1c02c842c8453a"/>
    <p:sldId xmlns:r="http://schemas.openxmlformats.org/officeDocument/2006/relationships" id="264" r:id="R647cb5c6512b44b2"/>
    <p:sldId xmlns:r="http://schemas.openxmlformats.org/officeDocument/2006/relationships" id="265" r:id="R3fbc28eb0e8d4dd9"/>
    <p:sldId xmlns:r="http://schemas.openxmlformats.org/officeDocument/2006/relationships" id="266" r:id="R705e852e4d3647a9"/>
    <p:sldId xmlns:r="http://schemas.openxmlformats.org/officeDocument/2006/relationships" id="267" r:id="Rc9c3a970b2d6400b"/>
    <p:sldId xmlns:r="http://schemas.openxmlformats.org/officeDocument/2006/relationships" id="268" r:id="R1450e111849f433d"/>
    <p:sldId xmlns:r="http://schemas.openxmlformats.org/officeDocument/2006/relationships" id="269" r:id="Rf1e28b8ac9514da6"/>
    <p:sldId xmlns:r="http://schemas.openxmlformats.org/officeDocument/2006/relationships" id="270" r:id="Rc3a764cad7ae45c0"/>
    <p:sldId xmlns:r="http://schemas.openxmlformats.org/officeDocument/2006/relationships" id="271" r:id="Rdf2188a190164583"/>
    <p:sldId xmlns:r="http://schemas.openxmlformats.org/officeDocument/2006/relationships" id="272" r:id="Ra4f1d58fdea74dbf"/>
    <p:sldId xmlns:r="http://schemas.openxmlformats.org/officeDocument/2006/relationships" id="273" r:id="R448a1e5df58448ac"/>
    <p:sldId xmlns:r="http://schemas.openxmlformats.org/officeDocument/2006/relationships" id="274" r:id="R02c75a05c9294195"/>
    <p:sldId xmlns:r="http://schemas.openxmlformats.org/officeDocument/2006/relationships" id="275" r:id="Rfee76049f294435e"/>
    <p:sldId xmlns:r="http://schemas.openxmlformats.org/officeDocument/2006/relationships" id="276" r:id="Rd9c415c97e0e4937"/>
    <p:sldId xmlns:r="http://schemas.openxmlformats.org/officeDocument/2006/relationships" id="277" r:id="Rf70ff990f1fc444a"/>
    <p:sldId xmlns:r="http://schemas.openxmlformats.org/officeDocument/2006/relationships" id="278" r:id="Redf36a672e064517"/>
    <p:sldId xmlns:r="http://schemas.openxmlformats.org/officeDocument/2006/relationships" id="279" r:id="R657697ba19c644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7b5dda9d0e4e5b" /><Relationship Type="http://schemas.openxmlformats.org/officeDocument/2006/relationships/slideMaster" Target="/ppt/slideMasters/slideMaster1.xml" Id="Rdd6713f396ef4a7a" /><Relationship Type="http://schemas.openxmlformats.org/officeDocument/2006/relationships/notesMaster" Target="/ppt/notesMasters/notesMaster1.xml" Id="R7e9935d6fc1649cc" /><Relationship Type="http://schemas.openxmlformats.org/officeDocument/2006/relationships/presProps" Target="/ppt/presProps.xml" Id="Rb32b7cbc625d4e9e" /><Relationship Type="http://schemas.openxmlformats.org/officeDocument/2006/relationships/tableStyles" Target="/ppt/tableStyles.xml" Id="Ra2891a19f928419d" /><Relationship Type="http://schemas.openxmlformats.org/officeDocument/2006/relationships/slide" Target="/ppt/slides/slide1.xml" Id="R1f3d4a99acf6434a" /><Relationship Type="http://schemas.openxmlformats.org/officeDocument/2006/relationships/slide" Target="/ppt/slides/slide2.xml" Id="R3aed365bbd2c402b" /><Relationship Type="http://schemas.openxmlformats.org/officeDocument/2006/relationships/slide" Target="/ppt/slides/slide3.xml" Id="Rc9426d67a836493b" /><Relationship Type="http://schemas.openxmlformats.org/officeDocument/2006/relationships/slide" Target="/ppt/slides/slide4.xml" Id="Rbf378c582c3a4a82" /><Relationship Type="http://schemas.openxmlformats.org/officeDocument/2006/relationships/slide" Target="/ppt/slides/slide5.xml" Id="R16ba9d94dc464e96" /><Relationship Type="http://schemas.openxmlformats.org/officeDocument/2006/relationships/slide" Target="/ppt/slides/slide6.xml" Id="R55fab6cee71a4e6c" /><Relationship Type="http://schemas.openxmlformats.org/officeDocument/2006/relationships/slide" Target="/ppt/slides/slide7.xml" Id="Re5413b59fe7a4b5e" /><Relationship Type="http://schemas.openxmlformats.org/officeDocument/2006/relationships/slide" Target="/ppt/slides/slide8.xml" Id="R2d1c02c842c8453a" /><Relationship Type="http://schemas.openxmlformats.org/officeDocument/2006/relationships/slide" Target="/ppt/slides/slide9.xml" Id="R647cb5c6512b44b2" /><Relationship Type="http://schemas.openxmlformats.org/officeDocument/2006/relationships/slide" Target="/ppt/slides/slide10.xml" Id="R3fbc28eb0e8d4dd9" /><Relationship Type="http://schemas.openxmlformats.org/officeDocument/2006/relationships/slide" Target="/ppt/slides/slide11.xml" Id="R705e852e4d3647a9" /><Relationship Type="http://schemas.openxmlformats.org/officeDocument/2006/relationships/slide" Target="/ppt/slides/slide12.xml" Id="Rc9c3a970b2d6400b" /><Relationship Type="http://schemas.openxmlformats.org/officeDocument/2006/relationships/slide" Target="/ppt/slides/slide13.xml" Id="R1450e111849f433d" /><Relationship Type="http://schemas.openxmlformats.org/officeDocument/2006/relationships/slide" Target="/ppt/slides/slide14.xml" Id="Rf1e28b8ac9514da6" /><Relationship Type="http://schemas.openxmlformats.org/officeDocument/2006/relationships/slide" Target="/ppt/slides/slide15.xml" Id="Rc3a764cad7ae45c0" /><Relationship Type="http://schemas.openxmlformats.org/officeDocument/2006/relationships/slide" Target="/ppt/slides/slide16.xml" Id="Rdf2188a190164583" /><Relationship Type="http://schemas.openxmlformats.org/officeDocument/2006/relationships/slide" Target="/ppt/slides/slide17.xml" Id="Ra4f1d58fdea74dbf" /><Relationship Type="http://schemas.openxmlformats.org/officeDocument/2006/relationships/slide" Target="/ppt/slides/slide18.xml" Id="R448a1e5df58448ac" /><Relationship Type="http://schemas.openxmlformats.org/officeDocument/2006/relationships/slide" Target="/ppt/slides/slide19.xml" Id="R02c75a05c9294195" /><Relationship Type="http://schemas.openxmlformats.org/officeDocument/2006/relationships/slide" Target="/ppt/slides/slide20.xml" Id="Rfee76049f294435e" /><Relationship Type="http://schemas.openxmlformats.org/officeDocument/2006/relationships/slide" Target="/ppt/slides/slide21.xml" Id="Rd9c415c97e0e4937" /><Relationship Type="http://schemas.openxmlformats.org/officeDocument/2006/relationships/slide" Target="/ppt/slides/slide22.xml" Id="Rf70ff990f1fc444a" /><Relationship Type="http://schemas.openxmlformats.org/officeDocument/2006/relationships/slide" Target="/ppt/slides/slide23.xml" Id="Redf36a672e064517" /><Relationship Type="http://schemas.openxmlformats.org/officeDocument/2006/relationships/slide" Target="/ppt/slides/slide24.xml" Id="R657697ba19c6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d293e58b284c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3daf69892c4a64" /><Relationship Type="http://schemas.openxmlformats.org/officeDocument/2006/relationships/notesMaster" Target="/ppt/notesMasters/notesMaster1.xml" Id="R013030a7e280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4fd201fcad4a4a" /><Relationship Type="http://schemas.openxmlformats.org/officeDocument/2006/relationships/notesMaster" Target="/ppt/notesMasters/notesMaster1.xml" Id="Rf9d0f9dc047146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11a948f7974f80" /><Relationship Type="http://schemas.openxmlformats.org/officeDocument/2006/relationships/notesMaster" Target="/ppt/notesMasters/notesMaster1.xml" Id="R27f2ca53e3a349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852c02c014415a" /><Relationship Type="http://schemas.openxmlformats.org/officeDocument/2006/relationships/notesMaster" Target="/ppt/notesMasters/notesMaster1.xml" Id="Rd948bed4392e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175ce88f364f8b" /><Relationship Type="http://schemas.openxmlformats.org/officeDocument/2006/relationships/notesMaster" Target="/ppt/notesMasters/notesMaster1.xml" Id="Rddd2f77ce11c44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20206b0c724442" /><Relationship Type="http://schemas.openxmlformats.org/officeDocument/2006/relationships/notesMaster" Target="/ppt/notesMasters/notesMaster1.xml" Id="Rd9a2df8879b843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fdc50c1672474d" /><Relationship Type="http://schemas.openxmlformats.org/officeDocument/2006/relationships/notesMaster" Target="/ppt/notesMasters/notesMaster1.xml" Id="R6b1032b6a11b4d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9dea8db0d542e9" /><Relationship Type="http://schemas.openxmlformats.org/officeDocument/2006/relationships/notesMaster" Target="/ppt/notesMasters/notesMaster1.xml" Id="Rf933f412f4684e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7bbce03e1741ac" /><Relationship Type="http://schemas.openxmlformats.org/officeDocument/2006/relationships/notesMaster" Target="/ppt/notesMasters/notesMaster1.xml" Id="R0c3e5370ac6343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2890846f994c65" /><Relationship Type="http://schemas.openxmlformats.org/officeDocument/2006/relationships/notesMaster" Target="/ppt/notesMasters/notesMaster1.xml" Id="R8b6e5a7237c847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ae9a519fa84376" /><Relationship Type="http://schemas.openxmlformats.org/officeDocument/2006/relationships/notesMaster" Target="/ppt/notesMasters/notesMaster1.xml" Id="R730319fc092c4c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fc1d32081e44f9" /><Relationship Type="http://schemas.openxmlformats.org/officeDocument/2006/relationships/notesMaster" Target="/ppt/notesMasters/notesMaster1.xml" Id="Rcd7fbaa8965841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eca6af60cd4bc3" /><Relationship Type="http://schemas.openxmlformats.org/officeDocument/2006/relationships/notesMaster" Target="/ppt/notesMasters/notesMaster1.xml" Id="R363ecea5ea054c3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79abd8ea854cd8" /><Relationship Type="http://schemas.openxmlformats.org/officeDocument/2006/relationships/notesMaster" Target="/ppt/notesMasters/notesMaster1.xml" Id="R6112fd6b0edd4c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787d28d54847ef" /><Relationship Type="http://schemas.openxmlformats.org/officeDocument/2006/relationships/notesMaster" Target="/ppt/notesMasters/notesMaster1.xml" Id="Re62f08d4019e42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d31ab61ac448e0" /><Relationship Type="http://schemas.openxmlformats.org/officeDocument/2006/relationships/notesMaster" Target="/ppt/notesMasters/notesMaster1.xml" Id="Rdb35cde1653549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42eea739274179" /><Relationship Type="http://schemas.openxmlformats.org/officeDocument/2006/relationships/notesMaster" Target="/ppt/notesMasters/notesMaster1.xml" Id="R5c485177d22241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95d865d05d4df1" /><Relationship Type="http://schemas.openxmlformats.org/officeDocument/2006/relationships/notesMaster" Target="/ppt/notesMasters/notesMaster1.xml" Id="Rbd7181dcbb3e46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55f19c3a488465a" /><Relationship Type="http://schemas.openxmlformats.org/officeDocument/2006/relationships/notesMaster" Target="/ppt/notesMasters/notesMaster1.xml" Id="R4a7ebf6c42f845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1365277595349d5" /><Relationship Type="http://schemas.openxmlformats.org/officeDocument/2006/relationships/notesMaster" Target="/ppt/notesMasters/notesMaster1.xml" Id="R0e214ec4ebea4e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7d0e27199a416c" /><Relationship Type="http://schemas.openxmlformats.org/officeDocument/2006/relationships/notesMaster" Target="/ppt/notesMasters/notesMaster1.xml" Id="R9599b2d1c4184c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9a07008a1d4508" /><Relationship Type="http://schemas.openxmlformats.org/officeDocument/2006/relationships/notesMaster" Target="/ppt/notesMasters/notesMaster1.xml" Id="R64acd87893714c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7c4ff29c664575" /><Relationship Type="http://schemas.openxmlformats.org/officeDocument/2006/relationships/notesMaster" Target="/ppt/notesMasters/notesMaster1.xml" Id="R764197f133844a9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a2f2de552b24d23" /><Relationship Type="http://schemas.openxmlformats.org/officeDocument/2006/relationships/notesMaster" Target="/ppt/notesMasters/notesMaster1.xml" Id="Ra4911b4d4a2849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728e26edb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bfa813be44456d" /><Relationship Type="http://schemas.openxmlformats.org/officeDocument/2006/relationships/slideLayout" Target="/ppt/slideLayouts/slideLayout1.xml" Id="Rf7e5f27430784c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e5f27430784c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bd77ba9064653" /><Relationship Type="http://schemas.openxmlformats.org/officeDocument/2006/relationships/notesSlide" Target="/ppt/notesSlides/notesSlide1.xml" Id="R64f858d2063e45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8cd53ce214679" /><Relationship Type="http://schemas.openxmlformats.org/officeDocument/2006/relationships/notesSlide" Target="/ppt/notesSlides/notesSlide2.xml" Id="R3260284de1b747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4751e59444816" /><Relationship Type="http://schemas.openxmlformats.org/officeDocument/2006/relationships/notesSlide" Target="/ppt/notesSlides/notesSlide3.xml" Id="R1962c65f55bb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1e86a3aec49e4" /><Relationship Type="http://schemas.openxmlformats.org/officeDocument/2006/relationships/notesSlide" Target="/ppt/notesSlides/notesSlide4.xml" Id="R9710603e9b634d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231c41a524907" /><Relationship Type="http://schemas.openxmlformats.org/officeDocument/2006/relationships/notesSlide" Target="/ppt/notesSlides/notesSlide5.xml" Id="R32dcb1cfc93042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00934e3324cbf" /><Relationship Type="http://schemas.openxmlformats.org/officeDocument/2006/relationships/notesSlide" Target="/ppt/notesSlides/notesSlide6.xml" Id="R21f9caee9cef48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25bc928e84259" /><Relationship Type="http://schemas.openxmlformats.org/officeDocument/2006/relationships/notesSlide" Target="/ppt/notesSlides/notesSlide7.xml" Id="Rf911458d7c844a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0474b9998445a" /><Relationship Type="http://schemas.openxmlformats.org/officeDocument/2006/relationships/notesSlide" Target="/ppt/notesSlides/notesSlide8.xml" Id="R6fb93736f77744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c26b0fffc4dd4" /><Relationship Type="http://schemas.openxmlformats.org/officeDocument/2006/relationships/notesSlide" Target="/ppt/notesSlides/notesSlide9.xml" Id="Ra7ae77af3cb34b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c820c9833459c" /><Relationship Type="http://schemas.openxmlformats.org/officeDocument/2006/relationships/notesSlide" Target="/ppt/notesSlides/notesSlide10.xml" Id="R14df84ec5da5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f4b8133e24a1d" /><Relationship Type="http://schemas.openxmlformats.org/officeDocument/2006/relationships/notesSlide" Target="/ppt/notesSlides/notesSlide11.xml" Id="R63a9b05a1f6c41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e338824c943b7" /><Relationship Type="http://schemas.openxmlformats.org/officeDocument/2006/relationships/notesSlide" Target="/ppt/notesSlides/notesSlide12.xml" Id="Ra965715ef29242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c30121c7a4b26" /><Relationship Type="http://schemas.openxmlformats.org/officeDocument/2006/relationships/notesSlide" Target="/ppt/notesSlides/notesSlide13.xml" Id="Reeb3ecec017e42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4cc57b7b6456f" /><Relationship Type="http://schemas.openxmlformats.org/officeDocument/2006/relationships/notesSlide" Target="/ppt/notesSlides/notesSlide14.xml" Id="Ra184398b44f543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663b3b8bf49d6" /><Relationship Type="http://schemas.openxmlformats.org/officeDocument/2006/relationships/notesSlide" Target="/ppt/notesSlides/notesSlide15.xml" Id="R85a6862c70d540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1e344bb0841fd" /><Relationship Type="http://schemas.openxmlformats.org/officeDocument/2006/relationships/notesSlide" Target="/ppt/notesSlides/notesSlide16.xml" Id="R79b682643f7d40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73390dc804533" /><Relationship Type="http://schemas.openxmlformats.org/officeDocument/2006/relationships/notesSlide" Target="/ppt/notesSlides/notesSlide17.xml" Id="R4ff2b6cae90c42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fd3a883eb411e" /><Relationship Type="http://schemas.openxmlformats.org/officeDocument/2006/relationships/notesSlide" Target="/ppt/notesSlides/notesSlide18.xml" Id="R542444d6483f4f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7d60e371b48c5" /><Relationship Type="http://schemas.openxmlformats.org/officeDocument/2006/relationships/notesSlide" Target="/ppt/notesSlides/notesSlide19.xml" Id="Rb584eec8ed3b40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e462e84ef416c" /><Relationship Type="http://schemas.openxmlformats.org/officeDocument/2006/relationships/notesSlide" Target="/ppt/notesSlides/notesSlide20.xml" Id="R9f948e405ab44d6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a1a2fc5ac4a38" /><Relationship Type="http://schemas.openxmlformats.org/officeDocument/2006/relationships/notesSlide" Target="/ppt/notesSlides/notesSlide21.xml" Id="R2f74bb3b7565438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e183161fd480b" /><Relationship Type="http://schemas.openxmlformats.org/officeDocument/2006/relationships/notesSlide" Target="/ppt/notesSlides/notesSlide22.xml" Id="R209234868c0d40f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a06ca365e4e6b" /><Relationship Type="http://schemas.openxmlformats.org/officeDocument/2006/relationships/notesSlide" Target="/ppt/notesSlides/notesSlide23.xml" Id="Rbdc47a5b534442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250b529984da9" /><Relationship Type="http://schemas.openxmlformats.org/officeDocument/2006/relationships/notesSlide" Target="/ppt/notesSlides/notesSlide24.xml" Id="Rb155ce7b417946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BF0CE-670D-4D4A-BB3B-1CED11B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EC5F6-9E03-450C-A227-80EC53C4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DOCUMENT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ABB02-E1AB-4878-9D4B-660ADE19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76B4E-C06F-4623-AFE2-12356E86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8F91E-1AF4-47C9-9C0C-E0674002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01 / 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4E572-DC88-4982-8CDB-53A9E946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8FB"/>
                </a:solidFill>
              </a:defRPr>
            </a:pPr>
            <a:r>
              <a:rPr sz="4500" b="1">
                <a:solidFill>
                  <a:srgbClr val="F4F8FB"/>
                </a:solidFill>
              </a:rPr>
              <a:t>The New SDLC With Vibe Coding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A0458-0D66-4C37-9D55-A3813FB4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2CEDA"/>
                </a:solidFill>
              </a:defRPr>
            </a:pPr>
            <a:r>
              <a:rPr sz="1725" b="0">
                <a:solidFill>
                  <a:srgbClr val="C2CEDA"/>
                </a:solidFill>
              </a:rPr>
              <a:t>From ad-hoc prompting to agentic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6F837-E8DE-47C6-9E32-C61760A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B3427"/>
          </a:solidFill>
          <a:ln xmlns:a="http://schemas.openxmlformats.org/drawingml/2006/main" w="9525">
            <a:solidFill>
              <a:srgbClr val="F2C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3C5F0-F560-4C02-85EF-1988DD1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240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7E6BA-3FD7-40F5-878E-92CB34E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43100"/>
            <a:ext cx="2514600" cy="-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2D5B8-B708-46AE-A4CC-080953B8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51507-A620-4F1C-A93D-170BA3F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C9371-A4E0-44F8-9666-599C76A7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2514600" cy="-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3F8F3-C041-4390-9A65-1662BC81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B6AE3-5D19-4EAF-9D9E-543F1C90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4F719-CAA0-41BF-B2DC-21545116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2514600" cy="-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BF264-2FF0-4630-B50D-8D931E1F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5A54A-4C5E-4481-A730-C8268178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1F020-364A-4EB1-A2BB-E0A68D4B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2514600" cy="-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50D77-895C-48E0-B00F-13450188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099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80AEA-7914-49E1-8A3F-87DCA954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814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Evals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170C7-3EEF-48E4-995A-BCD95052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00500"/>
            <a:ext cx="2514600" cy="-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A2162-0433-42B6-8933-7F0173B5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2430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BBE06-424F-4B03-91AB-F9A7DB6D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Gates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C429E-9C8D-458C-81D8-34BD6E2B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14850"/>
            <a:ext cx="2514600" cy="-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30071-392A-4BEF-AE18-5918EE76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6667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A261D"/>
          </a:solidFill>
          <a:ln xmlns:a="http://schemas.openxmlformats.org/drawingml/2006/main" w="9525">
            <a:solidFill>
              <a:srgbClr val="7B673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36903-4671-48CF-A494-0E4AB963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36B"/>
                </a:solidFill>
              </a:defRPr>
            </a:pPr>
            <a:r>
              <a:rPr sz="900" b="1">
                <a:solidFill>
                  <a:srgbClr val="F2C36B"/>
                </a:solidFill>
              </a:rPr>
              <a:t>DECK 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7EC09-EA61-44CB-AF72-9AB33FE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9EAD0"/>
                </a:solidFill>
              </a:defRPr>
            </a:pPr>
            <a:r>
              <a:rPr sz="1500" b="0">
                <a:solidFill>
                  <a:srgbClr val="F9EAD0"/>
                </a:solidFill>
              </a:rPr>
              <a:t>Explain the paper deeply, then map it onto this repo's Software Factory vision.</a:t>
            </a:r>
          </a:p>
        </p:txBody>
      </p:sp>
    </p:spTree>
    <p:extLst>
      <p:ext uri="{BB962C8B-B14F-4D97-AF65-F5344CB8AC3E}">
        <p14:creationId xmlns:p14="http://schemas.microsoft.com/office/powerpoint/2010/main" val="1940220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DAA5FA-2078-4F5A-A301-37A34E6A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94B7C-0EF3-4EDE-953E-B575283F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EXECUTIVE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F3B9B-E467-443E-ABC8-3F75A202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C8C7C-E4E7-4325-BB1E-06429CC2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The center of gravity moved from syntax to intent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13F54-0225-4945-AAD5-DA1FBBA6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Generation is cheap. Direction, context, verification, and judgment are now the scarce engineering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317D7-B463-4841-83FF-B20B2C4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C7386-5A9F-4C02-8944-A3906AD4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02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2523A-2B57-448D-B40D-E00526F5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3664-6CD2-4B96-BD6D-3A779E5C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What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5DAE8-FEC6-4D1C-B4A4-D497641A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Developers express goals and constraints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Agents produce code, tests, plans, and reviews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Teams build reusable harnesses instead of one-off prompts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C0CA0-176C-4811-BCFC-D6F9E55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222D38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9ACC9-DF5A-489C-90D0-AA64F42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What does not disappear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EB523-9D3C-4917-A5FE-B8044003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Requirements and architecture still need judgment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Verification becomes more important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Engineering culture gets amplified</a:t>
            </a:r>
          </a:p>
        </p:txBody>
      </p:sp>
    </p:spTree>
    <p:extLst>
      <p:ext uri="{BB962C8B-B14F-4D97-AF65-F5344CB8AC3E}">
        <p14:creationId xmlns:p14="http://schemas.microsoft.com/office/powerpoint/2010/main" val="1954598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533915-7E1A-4C83-A8B3-AF2364C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1B19D-4C97-48E1-994F-BC78EAE6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E320F-A20B-4A71-BD94-0C7988EB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64352-88BE-4CCC-89EE-81F54804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Adoption crossed from novelty into daily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D2F55-84B8-4BA3-BFBB-B6D71B4F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The paper frames early 2026 as the moment coding agents became normal enough to reshape the SDLC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0CF87-41D0-4E3D-8504-140984B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125B1-B0D3-482D-AAB5-129B2EF2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03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8B7B8-39F1-491A-9093-77E22B4D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97FFA-B2A4-4A5C-B932-B09AA813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C36B"/>
                </a:solidFill>
              </a:defRPr>
            </a:pPr>
            <a:r>
              <a:rPr sz="4650" b="1">
                <a:solidFill>
                  <a:srgbClr val="F2C36B"/>
                </a:solidFill>
              </a:rPr>
              <a:t>85%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714E9-E043-4DCC-8033-BE1D869C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EDA"/>
                </a:solidFill>
              </a:defRPr>
            </a:pPr>
            <a:r>
              <a:rPr sz="1350" b="0">
                <a:solidFill>
                  <a:srgbClr val="C2CEDA"/>
                </a:solidFill>
              </a:rPr>
              <a:t>regularly use AI coding 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B8844-6213-4D18-BE60-0D8ACD4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0FC8F-807B-4AE7-9007-8B86741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C36B"/>
                </a:solidFill>
              </a:defRPr>
            </a:pPr>
            <a:r>
              <a:rPr sz="4650" b="1">
                <a:solidFill>
                  <a:srgbClr val="F2C36B"/>
                </a:solidFill>
              </a:rPr>
              <a:t>51%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CC15B-2789-4181-B05B-A2071479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EDA"/>
                </a:solidFill>
              </a:defRPr>
            </a:pPr>
            <a:r>
              <a:rPr sz="1350" b="0">
                <a:solidFill>
                  <a:srgbClr val="C2CEDA"/>
                </a:solidFill>
              </a:rPr>
              <a:t>use them daily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234326-FDBD-4EDF-B90C-56097A44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000EE-B898-40F4-9EF5-0A1F29A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C36B"/>
                </a:solidFill>
              </a:defRPr>
            </a:pPr>
            <a:r>
              <a:rPr sz="4650" b="1">
                <a:solidFill>
                  <a:srgbClr val="F2C36B"/>
                </a:solidFill>
              </a:rPr>
              <a:t>41%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F4899-EEF1-4A07-B446-8411FD00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EDA"/>
                </a:solidFill>
              </a:defRPr>
            </a:pPr>
            <a:r>
              <a:rPr sz="1350" b="0">
                <a:solidFill>
                  <a:srgbClr val="C2CEDA"/>
                </a:solidFill>
              </a:rPr>
              <a:t>new code estimated as AI generated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56D91-C3F8-4B72-8D44-90F120ED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8FB"/>
                </a:solidFill>
              </a:defRPr>
            </a:pPr>
            <a:r>
              <a:rPr sz="1650" b="0">
                <a:solidFill>
                  <a:srgbClr val="F4F8FB"/>
                </a:solidFill>
              </a:rPr>
              <a:t>The implication: generation is no longer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1363309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EF6430-73C8-4EC6-95F5-8596D6F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01137-40F3-4090-8BAE-F4215E40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AI AGENT REFRESHER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37871-35B3-4EDD-A1C1-7C6BC7EB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DEF4F-0FD2-4DDA-B243-C270491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An agent is a loop, not just a chat 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0C889-C093-4675-96FC-DA6FE8FB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The paper decomposes agents into a model, tools, memory, orchestration, and deployment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55186-350F-42DC-9FFB-0C0526E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D739B-E998-4793-91AA-80939E22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04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65C4E-4A91-4315-A3CE-4EF25B50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1524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2C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A5F68-8CD2-4632-A198-52EFB3B4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2900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observe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plan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act</a:t>
            </a:r>
          </a:p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DCAD3-9498-49B5-8C71-EE409E90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A9383-50EF-4E07-BB56-A8A98367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D692F-C962-439A-8F77-914ACCD8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reasoning and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D6999-791C-4805-B7E1-5B505AE1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59EFC-AFD0-4AA6-99EC-435477B1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D9A4E-5B00-4D3C-9053-8E638A6A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623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files, tests,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0180A-02A2-4565-BEFF-499F9C8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C3B71-AA72-40F5-B867-43FC266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337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8580A-9880-4A3A-A2CD-5707B90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528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persistent 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E1D05-E752-4159-B7DB-9795851A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84407E-BC14-412C-8728-DEDFA7B5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339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Orchestration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CCE3B-71F8-4314-A95C-E8878289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530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planning and retries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AD1FE-1E1B-414E-ADF3-22877F56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A3E6A-0F2D-4C54-BD08-D1AC0827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339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367951-F2DB-4F24-9DCC-FEC1E11A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530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where it runs</a:t>
            </a:r>
          </a:p>
        </p:txBody>
      </p:sp>
    </p:spTree>
    <p:extLst>
      <p:ext uri="{BB962C8B-B14F-4D97-AF65-F5344CB8AC3E}">
        <p14:creationId xmlns:p14="http://schemas.microsoft.com/office/powerpoint/2010/main" val="1031157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3E8C1F-0904-4E2D-8BA2-7DE7AAF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3AA31-292A-4BD7-8C88-C30BF598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TERMINOLOGY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F55FF-397E-4880-A515-48D5CF0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7202A-0393-4BDD-BEBC-2DE3EC40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Vibe coding is one point on a maturity spectrum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CE2E3-1012-459C-BEA3-1C84AA23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The key question is how much structure and verification surrounds AI-generated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A2827-D277-49F6-A530-861217F3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EE8C4-B989-429F-A943-7046EFEB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05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9922A-3493-4489-8613-11DA9117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36FE76-BABC-4924-8149-14811B0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3C6DA-BE39-4E32-A6EF-353BB621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086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Loose intent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Manual eyeballing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Prototype scope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High hidden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34FDE-4711-414A-85FB-99B30D80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5252E-2BD9-40B2-9800-5B2D1657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Structured AI-assisted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22B37-A9D1-464A-BBA2-A1A292BF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3086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Explicit tasks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Tests and review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Team workflow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Moderate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3DF0A-C709-42D8-82DD-3B019D8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D3029"/>
          </a:solidFill>
          <a:ln xmlns:a="http://schemas.openxmlformats.org/drawingml/2006/main" w="9525">
            <a:solidFill>
              <a:srgbClr val="5E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8868E-E047-4CD6-9EB0-72D7F3E4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Agentic engineering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72560-B1CC-472E-922E-CB3E5C67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14700"/>
            <a:ext cx="30861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Specs as inputs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Tests plus evals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Production scope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Managed risk</a:t>
            </a:r>
          </a:p>
        </p:txBody>
      </p:sp>
    </p:spTree>
    <p:extLst>
      <p:ext uri="{BB962C8B-B14F-4D97-AF65-F5344CB8AC3E}">
        <p14:creationId xmlns:p14="http://schemas.microsoft.com/office/powerpoint/2010/main" val="15742720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C6C15-951D-46B3-9F5C-8C248897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DC5CD-1FE3-4662-B79A-485C66AB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THE DIVIDING 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C8AA2-EE17-411F-A449-A6CDF70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C7035-7098-484F-AB75-1073DBCD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Verification separates agentic engineering from vibes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394A0-FE8E-4844-8D7F-C19FED0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Without deterministic tests and nondeterministic evals, the process is still vibe coding.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65E0B-C1FC-4C8D-875E-8512F97B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8DC3D-42BE-43C7-98D4-85FD7E79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06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98B26-9468-49CB-93E8-5F5B3860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F78B1-D6B2-4399-8A7C-7A02D805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9E336-A57F-467F-88AB-44F71B6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419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For deterministic code paths: APIs, transforms, business rules, permissions, migrations, and contracts.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253A3-49E9-4282-9561-FE441B65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24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C36B"/>
                </a:solidFill>
              </a:defRPr>
            </a:pPr>
            <a:r>
              <a:rPr sz="1050" b="0">
                <a:solidFill>
                  <a:srgbClr val="F2C36B"/>
                </a:solidFill>
              </a:rPr>
              <a:t>unit   integration   smoke   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2FDE2-0AAC-4D47-BF65-3B0E61C0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67100"/>
            <a:ext cx="57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2C36B"/>
                </a:solidFill>
              </a:defRPr>
            </a:pPr>
            <a:r>
              <a:rPr sz="4350" b="1">
                <a:solidFill>
                  <a:srgbClr val="F2C36B"/>
                </a:solidFill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2AD07-812E-4FB7-8246-DEF6731F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3845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731B1-8814-417A-BEA8-B5D67848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Evals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4930E-EFBE-412A-B8BA-09FD9D10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29000"/>
            <a:ext cx="4419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For agent behavior: plan quality, tool choice, trajectory, response quality, refusal behavior, and edge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FB61A-D5F6-4748-98A4-798DCBD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24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2C36B"/>
                </a:solidFill>
              </a:defRPr>
            </a:pPr>
            <a:r>
              <a:rPr sz="1050" b="0">
                <a:solidFill>
                  <a:srgbClr val="F2C36B"/>
                </a:solidFill>
              </a:rPr>
              <a:t>rubrics   goldens   trajectories   review 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0DD2B-104A-455B-9C44-14D5C354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10680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2D25"/>
          </a:solidFill>
          <a:ln xmlns:a="http://schemas.openxmlformats.org/drawingml/2006/main" w="9525">
            <a:solidFill>
              <a:srgbClr val="5ED3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27533-A514-497C-8007-DA2F1F2B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7E9"/>
                </a:solidFill>
              </a:defRPr>
            </a:pPr>
            <a:r>
              <a:rPr sz="1500" b="0">
                <a:solidFill>
                  <a:srgbClr val="DFF7E9"/>
                </a:solidFill>
              </a:rPr>
              <a:t>Agentic engineering starts when both sides are explicit and repeatable.</a:t>
            </a:r>
          </a:p>
        </p:txBody>
      </p:sp>
    </p:spTree>
    <p:extLst>
      <p:ext uri="{BB962C8B-B14F-4D97-AF65-F5344CB8AC3E}">
        <p14:creationId xmlns:p14="http://schemas.microsoft.com/office/powerpoint/2010/main" val="414000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82E4B-2413-4F55-8460-FD305C07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C22DB-2AA0-44C1-80AE-010ED68A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CONTEXT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28C39-FB5D-4709-8DA2-813EC0F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98F72-2095-48D0-9A26-6C54512E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Prompting matters, but context architecture matters more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865B2-102D-4BB6-9A95-8E2CA7DA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Output quality depends on what the agent knows, when it knows it, and how stale or overloaded that context becomes.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5C37-D548-4B67-B480-8EADBAD4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B7CDE-069D-4C07-9ED2-B0632001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07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E30B3-8019-429C-8E4C-2281E0E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19375-8E8C-42F3-9A9F-AFF24B7F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Instructions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327EA-DD15-48C1-B194-116129C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rules and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D9815-A028-4A41-9918-B489A45C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813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40F9C-2971-4190-8FA7-EA4B196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527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Knowledge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08CB0-6EE5-4B61-91B7-92A6F315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71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docs and 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11D04-9943-4039-BB2A-397F56E7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813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9EFB9-F1F1-44AA-8052-C6AC136C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ABA267-FEE8-4A99-86FF-46E67B0D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71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durable 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893BF-F4EF-4598-9BA8-F21A5B9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638C0-D188-4F2C-BD01-B9B57FF2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E703A-1F80-456F-BFC4-C27B4DAE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few-shot patterns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DE7E5-F3E9-4F29-9F19-696465C0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814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D0B2A-6F87-4FAE-A8F9-134CE1F6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52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25C20-C047-476E-84E7-0401459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72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actions and APIs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DA7B74-D569-4373-BCDF-AC29FAF6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814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2093B-51CB-4BA7-A2AB-1ED4637C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Guardrails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BAA38-EA73-4FC1-9420-0065CB6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72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bounds and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3DEA7-FB1F-46B5-997C-855EAFC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095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2C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BD0CE-6900-41B2-9398-1883C35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Context</a:t>
            </a:r>
          </a:p>
          <a:p xmlns:a="http://schemas.openxmlformats.org/drawingml/2006/main">
            <a:pPr algn="ctr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808297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429C43-E8B6-4CBE-9C6E-826D1DD3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30192-67DE-40DB-AEC8-3ADFEE13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STATIC VS DYNAMIC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0EF38-58BB-4F91-914E-F761EA6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87804-3F28-4E3B-8C89-71B5EC3A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The context boundary becomes an architecture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38309-624D-4215-942E-0547E37D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Teams decide what is always-on, what is retrieved on demand, and what becomes portable procedural knowledge.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8E9B0-FD47-4526-8D93-EA4A0501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2417B-93C1-44BB-8264-5949DB2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08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D0956-6BB7-4523-8EC7-7006187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037A3-CC7E-4708-9ADA-38400BF9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Static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7B8F3-2575-408B-BBF6-E8BBD6EB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AGENTS.md, CLAUDE.md, GEMINI.md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System instructions and team norms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Long-lived persona and safety defaults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A8A0C-7D07-4C50-90AA-DE5EA369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C01D5-9D83-427F-8403-33F2A80A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Dynamic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2B6BC-2EA7-43C0-BC42-8CA4709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Tool results and command output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Retrieved docs and current files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Windowed conversation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ADF27-FFD1-4435-AC80-4C975BDA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E6A9F-45FA-4612-BC6A-987BC3FD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Agent Skills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81DAF-115F-4CBD-B359-B9C6C63E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Portable procedures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Progressive disclosure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Less context rot across agents</a:t>
            </a:r>
          </a:p>
        </p:txBody>
      </p:sp>
    </p:spTree>
    <p:extLst>
      <p:ext uri="{BB962C8B-B14F-4D97-AF65-F5344CB8AC3E}">
        <p14:creationId xmlns:p14="http://schemas.microsoft.com/office/powerpoint/2010/main" val="18868607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61B16-A39C-4E97-ADDF-05AC7E94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2BCCF-B63B-42A1-962E-9802EAD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NEW SDLC SHAPE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6B1B4-B90B-485E-8C4B-CDCF828E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EE8C4-B125-460E-B7D4-DE3871A4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Implementation compresses unevenly; judgment-heavy phases do not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F7C63-C1BD-4055-9FDE-B502FAC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AI speeds coding more than deciding. That changes the lifecycle rhythm.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A0505-0718-4800-8CA9-0A56A67B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F2349-D086-4349-A3B5-45566227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09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92153-0207-4407-9EF6-1FD4E274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2934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7C4D6-3A44-41FF-9D3D-6E7DFB9B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D5539-86C0-493B-A538-5BD18DBA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71800"/>
            <a:ext cx="15049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39A"/>
          </a:solidFill>
          <a:ln xmlns:a="http://schemas.openxmlformats.org/drawingml/2006/main" w="9525">
            <a:solidFill>
              <a:srgbClr val="2934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9D9E5-154F-48E6-8D15-76308DC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471D5-C629-428B-8B5B-DA8CA4E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52875"/>
            <a:ext cx="15049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2934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0C8BB-8371-4BF5-B215-BC2718A7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A9DB8-9222-4ADB-964B-63551F44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38450"/>
            <a:ext cx="15049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2934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B7F17-019F-4C7F-A8BF-C9A0E80F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Testing and evals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36E1A-BEBA-4CC3-9C84-CA5DDCF8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1504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2934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CEDEF-8F1A-4A38-8726-7EA093D9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Review and deploy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3CD7B-0972-420D-9D55-8F6326ED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15049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2934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D6E42-82E8-45DC-8771-696D7D20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81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Maintenance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8BDC6-A075-4373-939F-AF86FF90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8FB"/>
                </a:solidFill>
              </a:defRPr>
            </a:pPr>
            <a:r>
              <a:rPr sz="1575" b="0">
                <a:solidFill>
                  <a:srgbClr val="F4F8FB"/>
                </a:solidFill>
              </a:rPr>
              <a:t>Implementation narrows; verification and supervision widen.</a:t>
            </a:r>
          </a:p>
        </p:txBody>
      </p:sp>
    </p:spTree>
    <p:extLst>
      <p:ext uri="{BB962C8B-B14F-4D97-AF65-F5344CB8AC3E}">
        <p14:creationId xmlns:p14="http://schemas.microsoft.com/office/powerpoint/2010/main" val="2084140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73547E-9362-4BE5-B08D-2E3919E1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778A-392D-49BE-AE9B-8D8A8D0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REQUIREMENTS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5898D-F64F-4F77-B693-CDAFFA5F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8BE68-1271-4CEC-8450-7DCEB490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The front of the SDLC becomes a conversation with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D2FC4-EBD9-41BA-A43D-65091809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AI can elicit cases and prototype flows. Humans still own tradeoffs and intent.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D3496-06C4-4CD7-A30B-1A50E1D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879C6-021D-4EA8-92A2-7B0F26E8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10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C90C3-F658-4A73-9C4D-80BCDC6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6363E-9CDF-4E7F-9C1D-841D2C62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Requirements with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204C6-368B-4F87-934D-0D8A772F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Interview users and stakeholders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Generate stories and edge cases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Draft acceptance criteria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Prototype early UX and data 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2BC63-3C63-49F5-A127-4767B834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222D38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82932-D033-43B8-AB3E-3F3A255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Architecture with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A711A-6009-48DE-A39B-F2D45778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Explore options and consequences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Document decisions before code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Turn patterns into repeatable rules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Keep nonfunctional requirements explicit</a:t>
            </a:r>
          </a:p>
        </p:txBody>
      </p:sp>
    </p:spTree>
    <p:extLst>
      <p:ext uri="{BB962C8B-B14F-4D97-AF65-F5344CB8AC3E}">
        <p14:creationId xmlns:p14="http://schemas.microsoft.com/office/powerpoint/2010/main" val="20312598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CFE594-41BA-4D6F-80EC-50C977DF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CA413-AE0F-4E7F-8624-58B35A3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2466A-A86A-4F62-8334-4F651E9F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8AF8E-9C9E-448C-9F75-57FB244F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Agents can make broad changes, but verification drag is 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AE481-1B2C-4AC1-A5E3-13FDA06D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The productivity gain is not automatic; review, debugging, and validation can expand.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FAA6E-DDA5-44D7-9542-03C6F1B9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22FD7-7385-4B26-9EC9-B93264A8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11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AEAEC-9963-494A-892B-9103E9A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34362-81AF-42BE-BD3A-937ACB67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Where agents 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C3DC5-8CA6-4728-A189-4ECD52FE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Multi-file edits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Boilerplate removal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Migration assistance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Fast first drafts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9FAA4-8A84-44E8-9D91-1F1EE466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222D38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F829B-555C-412A-B4BB-83B001B9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Where drag appears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3933D-1824-45CC-BCD1-F2AB1621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Debugging generated code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Reviewing unfamiliar diffs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Integration edge cases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Trust calibration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7AB30-2378-4A6C-8B99-B11B20B9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C36B"/>
                </a:solidFill>
              </a:defRPr>
            </a:pPr>
            <a:r>
              <a:rPr sz="1800" b="1">
                <a:solidFill>
                  <a:srgbClr val="F2C36B"/>
                </a:solidFill>
              </a:rPr>
              <a:t>Net productivity = generation speed - verification/rework cost</a:t>
            </a:r>
          </a:p>
        </p:txBody>
      </p:sp>
    </p:spTree>
    <p:extLst>
      <p:ext uri="{BB962C8B-B14F-4D97-AF65-F5344CB8AC3E}">
        <p14:creationId xmlns:p14="http://schemas.microsoft.com/office/powerpoint/2010/main" val="9893495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7AAC5-D288-4CC9-A987-402B6A80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2E47D-9612-4C99-A006-661EC6BF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TESTING AND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4A604-5E7A-4176-91DC-A18C8FB0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D937B-0EE7-45FC-85C8-E938F787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Quality becomes a flywheel, not a final phase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C8DAD-2DA9-4060-811B-5D3575F0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Output evaluation plus trajectory evaluation feeds improvements back into prompts, tools, tests, and monitoring.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83AD1-7D40-4473-94F1-13E2C9A2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3928F-FBA4-4C10-A479-BC8E374F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12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91FC0-2152-4E01-AD4E-1D85BA42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480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2FBAE-ADCA-4E5E-B547-4A494C4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9C255-1090-4088-AB63-E18CB187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1657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define success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6152C-770E-4225-9A1C-F64240E4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E9593-104B-4B74-AF93-25F42A97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Diagnose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07536-3C0E-47E7-AF61-EF447A6C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1657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cluster failures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1E415-DCC6-4CDD-AD0F-A4119D5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01883-7DC5-4DF2-9918-F3CC0D2E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623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Optimize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60C8B-B55A-422A-A755-E0E5B814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1657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adjust prompt/tools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99458-664C-4713-8A14-78FBD074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2E0CF-D47F-4CF2-B330-1A217973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4E78D-A5D2-41EB-B5F3-5AA638BC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43550"/>
            <a:ext cx="1657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lock fixed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6D99E-6482-4A9B-8952-281CFE1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2000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4B9D0-9B85-49F3-B145-D6CAA727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673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Monitor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32C50-58AF-45A5-A0B6-A0855F31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486400"/>
            <a:ext cx="1657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watch production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F3936-BBE2-4E38-85E3-680BA459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52400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2C3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A8A1D-C3BA-4414-B38D-2F304B70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81450"/>
            <a:ext cx="102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quality</a:t>
            </a:r>
          </a:p>
          <a:p xmlns:a="http://schemas.openxmlformats.org/drawingml/2006/main">
            <a:pPr algn="ctr">
              <a:defRPr sz="1725" b="1">
                <a:solidFill>
                  <a:srgbClr val="101820"/>
                </a:solidFill>
              </a:defRPr>
            </a:pPr>
            <a:r>
              <a:rPr sz="1725" b="1">
                <a:solidFill>
                  <a:srgbClr val="101820"/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19963052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F1BF6-03A2-43F0-BCAE-6B0DA3D0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6028E-C97B-49F5-9238-619A69A3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REVIEW, DEPLOY,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3AA7F-9119-4EC6-960E-3176E7E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B4D92-A941-4375-9550-FE047EBA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Later SDLC phases get AI help, but not blind autonomy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EDE6E-7BDD-4292-958B-E14258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AI can assist review, release, observability, and maintenance while humans retain the irreversible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BF563-4809-498A-A3DF-EC221639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3B2F5-689F-4B97-BD8F-46472FF2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13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D0BC3-E37E-4672-A705-A2FDD4B6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26DEE-DEC8-4B09-A7D2-E93198A0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14193-4C7C-4B90-BB15-36F8F68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First-pass critique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Policy checks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Risk summaries for humans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FBDED-637A-484A-BD8E-55F07C0C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FE59F-6FFF-412B-8CAA-97BB917B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1B6BD-C30E-4BF7-A370-B73E8632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Feature flags and rollout checks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Runtime telemetry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Rollback triggers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A29DB-77B2-4D34-9D4A-550F7B44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713F6-9390-40EA-AAB7-E4BCCF9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Maintain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77B88-874D-4474-AABF-DD169EFF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Legacy explanation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Migration plans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Test modernization</a:t>
            </a:r>
          </a:p>
        </p:txBody>
      </p:sp>
    </p:spTree>
    <p:extLst>
      <p:ext uri="{BB962C8B-B14F-4D97-AF65-F5344CB8AC3E}">
        <p14:creationId xmlns:p14="http://schemas.microsoft.com/office/powerpoint/2010/main" val="4931959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51C8A-1254-495D-8490-CFB2D1D8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552BF-A89A-45B4-B888-D3D17E61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FACTORY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C52C3-48FA-4FE2-8B90-82EE967D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74FFD-A82D-4355-B174-0727E238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The developer output shifts from code to a code-producing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5970D-7D7C-40D5-A687-017098A2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Specs, context, agents, tests, gates, and feedback loops become the assembly 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37852-655A-429F-8A26-1ECB389F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B20A0-3A7A-405D-AD0E-AF9F5242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14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AFA20-B457-420B-972F-08C37455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221B7-913D-45E2-A871-6524494E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01</a:t>
            </a:r>
          </a:p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Spec and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44B03-1131-4C7F-940E-AB34FC27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657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intent, constraints, 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F451C-07FB-4C41-9B6E-F6E16336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86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C36B"/>
                </a:solidFill>
              </a:defRPr>
            </a:pPr>
            <a:r>
              <a:rPr sz="2100" b="1">
                <a:solidFill>
                  <a:srgbClr val="F2C36B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0481B-4A4F-4208-A54F-750B95EE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908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9A3A4B-FABB-4587-9B90-8A23542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623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02</a:t>
            </a:r>
          </a:p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Agent harness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07625-997F-4405-971B-911F0913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81400"/>
            <a:ext cx="1657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model, tools, sandbox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7C1AC-155E-4326-A22F-0ABAB926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C36B"/>
                </a:solidFill>
              </a:defRPr>
            </a:pPr>
            <a:r>
              <a:rPr sz="2100" b="1">
                <a:solidFill>
                  <a:srgbClr val="F2C36B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87F1F-196C-4568-B3A3-035C985B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908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D8BE6-DC63-4880-B828-4F72D624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623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03</a:t>
            </a:r>
          </a:p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Code and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FB2E1-731A-4D5F-BFB0-8C5A3106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1657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diffs, assertions,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2182F-9B85-46D8-8546-50CD5A42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86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C36B"/>
                </a:solidFill>
              </a:defRPr>
            </a:pPr>
            <a:r>
              <a:rPr sz="2100" b="1">
                <a:solidFill>
                  <a:srgbClr val="F2C36B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C7FCE-2984-4B35-91F2-03AE7604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908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EB030-DA4B-4FDF-98CF-1A295A8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623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04</a:t>
            </a:r>
          </a:p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Gates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AE709-6729-44FE-A4AD-EDBE0E89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81400"/>
            <a:ext cx="1657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evals, review,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4DCF2-4FCF-4679-BEC2-97A5117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C36B"/>
                </a:solidFill>
              </a:defRPr>
            </a:pPr>
            <a:r>
              <a:rPr sz="2100" b="1">
                <a:solidFill>
                  <a:srgbClr val="F2C36B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E82C6-AE55-4D6B-B04E-FB5A852E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2000250" cy="2381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3DAA3-9BE7-47A3-ADE8-A35D4243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23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05</a:t>
            </a:r>
          </a:p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3C611-A977-4B1C-9CB5-EC12F15B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81400"/>
            <a:ext cx="1657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logs, failures, improvements</a:t>
            </a:r>
          </a:p>
        </p:txBody>
      </p:sp>
    </p:spTree>
    <p:extLst>
      <p:ext uri="{BB962C8B-B14F-4D97-AF65-F5344CB8AC3E}">
        <p14:creationId xmlns:p14="http://schemas.microsoft.com/office/powerpoint/2010/main" val="17732902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67142E-7E4A-42E5-90DF-EF1FB222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2E85D-6467-4F52-933E-DFB014E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HARNESS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CD195-CE74-4C07-A584-FDA19634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089BB-F23D-4D7B-967B-959FE2B9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Agent = model plus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4758F-52EF-410C-AAB1-D719CF62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Many failures are harness failures: missing context, weak tools, bad sandboxing, no observability, or unclear permissions.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F110E-FA0E-4825-9BEB-1B8F868A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71427-865D-4BE6-A896-DBE4FAE8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15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BB49C-1141-4DB8-886C-C77789D1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133350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6B"/>
          </a:solidFill>
          <a:ln xmlns:a="http://schemas.openxmlformats.org/drawingml/2006/main" w="9525">
            <a:solidFill>
              <a:srgbClr val="F2C3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9B772-0E0B-4886-AEDD-A06A62D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052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2B4DC-11EB-4909-9B7D-F379A1C1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9C213-D0BD-4A61-B53E-9AFC099D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Instructions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CF22F-47FA-4259-B65E-354AD209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task frame and 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0DD03-1F96-43BD-BA71-690A9217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2890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E6264-3FDA-404F-B4F4-E135F30C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79957-4C55-4594-9826-CB4509BC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repo, shell, browser,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23BA6-224D-466C-82E7-D3C32496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6729E-3838-4EB5-A0DA-72E9F6E7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Sandbox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25FEC-E986-4F88-903E-A6F65AAC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permissions and isolation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70BA7-E53A-46B4-98D1-EA8B6FE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3395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3314BB-CB52-4500-B02E-15C447BA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Orchestration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9E4064-DDFC-4FDC-8F2E-D889F8FF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2450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routing and retries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EF8EC-9310-4590-BEDF-DCC3E4C6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4350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868DC0-7D99-46C1-A429-05AEDA77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31495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Guardrails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2AAF7-99C9-47C3-8EE0-8D2C1CB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3405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hooks and escalation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170DC-4023-47A4-A018-5BAFD2C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F58F5-37F0-4EDA-B577-63DECBEB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Observability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80DAEF-5721-4B83-848F-2EF8F8F4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2CEDA"/>
                </a:solidFill>
              </a:defRPr>
            </a:pPr>
            <a:r>
              <a:rPr sz="1050" b="0">
                <a:solidFill>
                  <a:srgbClr val="C2CEDA"/>
                </a:solidFill>
              </a:rPr>
              <a:t>logs, traces, evals</a:t>
            </a:r>
          </a:p>
        </p:txBody>
      </p:sp>
    </p:spTree>
    <p:extLst>
      <p:ext uri="{BB962C8B-B14F-4D97-AF65-F5344CB8AC3E}">
        <p14:creationId xmlns:p14="http://schemas.microsoft.com/office/powerpoint/2010/main" val="4239771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37BD5-4D68-499E-B234-124459F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1811C-0EB8-4E7B-B7DC-8586BC5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HARNESS ACROSS THE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F814A-C62F-4CC2-8D96-075D3596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712B4-CBF6-4403-8636-8BAE9359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Each SDLC phase configures or observes the 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B2D3D-AB7F-43E3-B8FA-B64E695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You do not just ask the agent to code; you prepare the system that makes useful code likely.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24838-0975-4240-91E5-A8D2BEFF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A55D2-2102-4DC0-9175-699F9EDF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16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6AB84-70B2-4FFB-81D8-0C00DAE9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0680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E2880-CB7A-4C62-B7F3-1E0919D4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36B"/>
                </a:solidFill>
              </a:defRPr>
            </a:pPr>
            <a:r>
              <a:rPr sz="1125" b="1">
                <a:solidFill>
                  <a:srgbClr val="F2C36B"/>
                </a:solidFill>
              </a:rPr>
              <a:t>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44A82-13A4-4FF0-A45F-84B571DD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36B"/>
                </a:solidFill>
              </a:defRPr>
            </a:pPr>
            <a:r>
              <a:rPr sz="1125" b="1">
                <a:solidFill>
                  <a:srgbClr val="F2C36B"/>
                </a:solidFill>
              </a:rPr>
              <a:t>Harness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717B8-6901-4439-8C4F-CDF656BF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37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36B"/>
                </a:solidFill>
              </a:defRPr>
            </a:pPr>
            <a:r>
              <a:rPr sz="1125" b="1">
                <a:solidFill>
                  <a:srgbClr val="F2C36B"/>
                </a:solidFill>
              </a:rPr>
              <a:t>Typical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1400D-4B3F-4C1B-80AD-5457BC2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3186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0B4CF-AE5D-4EE8-BC94-4A4CEB84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7486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8C7E1-2981-47B7-A5A7-5B5EC3E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87486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clarify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0E5B5-6717-40FB-A2AD-677D1A0C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7486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schemas, examples, acceptance criteria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E7356-CCC5-430D-A04C-C472A15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2221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395BC-F2D3-4B2A-88CC-E9B8B193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6521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E4D9A-F831-467A-9510-B49B67FF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36521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decompose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15649-B8E7-4A12-BA9C-7F268C8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6521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milestones, dependencies, risk 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5BEDC-06B3-456A-A393-30605F7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1257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4B8B2-CB79-49CC-8F6E-4C1EFAB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5557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Implementation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6201C-EEE0-4FB1-BE56-39FED266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85557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run agent safely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26397-7489-4179-8EBD-49A93D21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85557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tools, sandbox, edit permissions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E2829-ACB2-4D4E-BD66-7F370951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0293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D9AE8-A88C-4BB2-B129-F15CEA68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4593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8040D-7409-4A2E-9C9B-50F448F3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34593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close feedback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35B6BC-03F4-4608-99A0-50D4C2F0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34593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tests, evals, failure clusters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030F2-5A9D-4F93-A2CC-BF5F63E6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9329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167F0-6B3C-4483-885B-25989750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3629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CF4845-9EE7-4D82-AD57-C07A5CC7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83629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make judgment visible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2FD96B-54E7-4C5E-8534-E8FA5AE3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83629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summaries, diffs, policy checks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7C3FF0-811C-4C83-8104-5295EB48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8364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FD8CBE-7CC0-457F-853C-C2AB322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2664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Deploy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69998-49C2-484B-B068-DA70835D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32664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watch the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2E9CC1-CAFA-499F-8227-5CC0F060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32664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observability, rollbacks, incidents</a:t>
            </a:r>
          </a:p>
        </p:txBody>
      </p:sp>
    </p:spTree>
    <p:extLst>
      <p:ext uri="{BB962C8B-B14F-4D97-AF65-F5344CB8AC3E}">
        <p14:creationId xmlns:p14="http://schemas.microsoft.com/office/powerpoint/2010/main" val="673128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729D8-9F99-4A69-BD36-1718FF72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29BFC-DC1E-47FC-8B0C-356A6DF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ROLE 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5B887-99A0-4BF4-832C-BF47831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57FBD-8586-47B1-8099-928E33B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Developers move between conductor and orchestrator modes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FF38B-38E6-4351-94B7-250F10B1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Hands-on pairing and async delegation both matter; the skill is knowing which mode fits the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C26A2-1B03-4D65-94CE-3FED0390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D73B-04E8-4C8F-98DB-A291B15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17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2165E-2418-49F7-A199-2473F29F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6C9D7-25A4-4C2E-B534-2BF8FB9F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Conductor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E7E56-22C3-476A-9557-95E42BF9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Works in real time with an IDE or terminal agent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Steers line by line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Checks assumptions quickly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Keeps local context tight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BE518-96A9-4C9C-839B-D697C594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222D38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95C8D-E1AE-4FE0-B201-92D982A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Orchestrator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3ED57-BDCE-41B1-9DE0-F0724112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Splits work across async agents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Writes crisp specs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Decomposes tasks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Evaluates and merges safely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747C7-6219-4139-A231-2882C2EC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C36B"/>
                </a:solidFill>
              </a:defRPr>
            </a:pPr>
            <a:r>
              <a:rPr sz="1800" b="1">
                <a:solidFill>
                  <a:srgbClr val="F2C36B"/>
                </a:solidFill>
              </a:rPr>
              <a:t>The last 20 percent is where integration, taste, and domain judgment show up.</a:t>
            </a:r>
          </a:p>
        </p:txBody>
      </p:sp>
    </p:spTree>
    <p:extLst>
      <p:ext uri="{BB962C8B-B14F-4D97-AF65-F5344CB8AC3E}">
        <p14:creationId xmlns:p14="http://schemas.microsoft.com/office/powerpoint/2010/main" val="10982490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A9E88-AD13-4118-9DB5-3242B1FD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29D41-5D91-4F2B-9811-EF329FD2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AGENT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365EE-5F42-47F3-8D74-160A722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F271-CE1E-4244-B8E3-6C32C384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Agents differ by where they operate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10AEF-FD1A-4BCD-B3E4-FF50EB9E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This helps teams choose the right tool instead of treating every coding agent as equivalent.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D1124-118A-472D-97ED-874EE297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00E1B-692F-4E7C-B696-2E5E0A03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18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F1C3F-7391-47F5-8B76-AAFE6ABF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8D84E-953A-4E07-AC85-4BA3471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Editor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0F737-271F-41F9-ADAD-7FA1F58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2288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Copilot, Cursor, Windsurf, JetBrains AI</a:t>
            </a:r>
          </a:p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Inline edits and pair programming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0D506-15A2-4DE1-B088-5A230D3C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FC901-D2A7-4C93-BF69-A13C2203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71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Terminal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9AF30-12E0-409F-AE39-283A7C31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90900"/>
            <a:ext cx="22288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Codex CLI, Claude Code, Cline, Open Code</a:t>
            </a:r>
          </a:p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Repo-scale tasks and shell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CD4C0-6BC7-4649-A194-8518398D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E58B7-DFFA-4425-A250-4F0FDB8E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Background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936F3-DB4D-42B5-BF58-86E7314A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22288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Jules, Copilot agent mode, Cursor background</a:t>
            </a:r>
          </a:p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Async delegation and PR creation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93AD6-11BD-4329-A6E9-6CCDF921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2571750" cy="2714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84F23-186A-4380-98FF-046E01F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Production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B1F285-7A5F-4246-B286-89045FC9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90900"/>
            <a:ext cx="22288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Agent as shipped product</a:t>
            </a:r>
          </a:p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Memory, permissions, evals, observability</a:t>
            </a:r>
          </a:p>
        </p:txBody>
      </p:sp>
    </p:spTree>
    <p:extLst>
      <p:ext uri="{BB962C8B-B14F-4D97-AF65-F5344CB8AC3E}">
        <p14:creationId xmlns:p14="http://schemas.microsoft.com/office/powerpoint/2010/main" val="20394281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50F485-A1D7-4792-AF1C-D6F7979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03C97-81DD-4606-BFA5-D382395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D8F70-CF8A-4B65-94F0-95DDA71B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D5E61-E845-46D8-B5E2-99EA7C96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Vibes look cheap until operations and maintenance arrive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DC01C-56D6-4295-A4BC-C96C6BF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Context engineering is a financial lever: upfront structure can reduce marginal cost, token waste, and remediation.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A4FFA-F68B-4538-B84D-03112427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7EF6D-F720-4C98-947D-B5B28A8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19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BC2B7-900F-4145-AA4F-65AA3DF2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505A1-9FD6-40C3-B44E-8E327EBA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D93C5-2EAE-404A-9CB9-3DB2AC5A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Low setup cost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Fast demos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High token burn over time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Maintenance and security tax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08CB2-FDEB-42FA-82A7-9958160D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54102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222D38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ED452-83D9-430D-9837-D8411753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Agentic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AE192-A407-41F6-A773-7771897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50673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Higher upfront CapEx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Reusable specs and skills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Lower marginal change cost</a:t>
            </a:r>
          </a:p>
          <a:p xmlns:a="http://schemas.openxmlformats.org/drawingml/2006/main">
            <a:pPr algn="l">
              <a:defRPr sz="1275" b="0">
                <a:solidFill>
                  <a:srgbClr val="C2CEDA"/>
                </a:solidFill>
              </a:defRPr>
            </a:pPr>
            <a:r>
              <a:rPr sz="1275" b="0">
                <a:solidFill>
                  <a:srgbClr val="C2CEDA"/>
                </a:solidFill>
              </a:rPr>
              <a:t>- Better routing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9136796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83DB29-FD01-4D95-B4E7-FD04F3A4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647F0-4C33-44EA-B792-3E8232FC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ADOPTION PLAYBOOK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1C5AC-D896-46FC-A48F-A47671F8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35E74-6AA3-42EE-A7B8-5FE2ECC6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Start by making one workflow repeatable and measurable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985C-09F5-4CB4-A43F-22EF4F88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Build context as code, set an eval bar, and distinguish prototypes from production.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9ACDF-0A79-48FD-8D1F-1D38248E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B6C99-3432-4448-86AA-27AB66B8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20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B275A-18C5-4E56-8156-8B6BFA50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E8AF0-3123-4A11-BD56-16E96E6E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Individuals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B2FCC-3FC9-464D-B6AA-F17F41F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Create AGENTS.md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Write skills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Pick one repetitive workflow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Add tests before agent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B8CA7-B488-4605-BDEB-B6B2C768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73A8B-7523-4D42-BFC4-EE6B1CF4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Leaders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1EE60-F7B8-4C31-A2EF-FE2A557C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Treat context as code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Reward eval quality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Reshape review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Fund harness assets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464BE-80BE-412C-9B8B-C65CC008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3429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74089-802B-4D21-9E09-1756560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Organizations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A427F-CE4A-47E3-99FA-475C1685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0861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Invest in substrate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Adopt interop protocols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Build hybrid teams</a:t>
            </a:r>
          </a:p>
          <a:p xmlns:a="http://schemas.openxmlformats.org/drawingml/2006/main">
            <a:pPr algn="l">
              <a:defRPr sz="1200" b="0">
                <a:solidFill>
                  <a:srgbClr val="C2CEDA"/>
                </a:solidFill>
              </a:defRPr>
            </a:pPr>
            <a:r>
              <a:rPr sz="1200" b="0">
                <a:solidFill>
                  <a:srgbClr val="C2CEDA"/>
                </a:solidFill>
              </a:rPr>
              <a:t>- Hire for judgment</a:t>
            </a:r>
          </a:p>
        </p:txBody>
      </p:sp>
    </p:spTree>
    <p:extLst>
      <p:ext uri="{BB962C8B-B14F-4D97-AF65-F5344CB8AC3E}">
        <p14:creationId xmlns:p14="http://schemas.microsoft.com/office/powerpoint/2010/main" val="10118028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229F7-B824-4142-90E1-E0A4897C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69713-0A72-40EC-BB3E-4F6938A7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RISKS TO MANAGE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0AB21-D12A-4F19-85B0-3522C17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4CCF5-6AE5-450F-8DAE-50B70322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The new SDLC fails when generation outruns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F3A20-6A21-475C-970D-95D429ED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The warning is not anti-AI. It is anti-unbounded-autonomy.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09D34-C1D3-44A9-B205-F8CF161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0AEFB-A965-495F-B0F5-2DDE663A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21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E7ADB-CDE5-48AA-A4D6-40C3BA21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93792-CA3B-4053-9975-D1A9E04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Context rot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541D1-410F-4C86-B3FA-872AD8D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old rules pollute outputs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DE6FC-F9A7-4A74-861E-25E29873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B4BE1-838A-4E0F-88C3-F01307E3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Test theater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0ED04-7C33-46F2-BDC3-82B448D8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tests do not prove the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A0A38-588D-4996-A836-5C0C8A5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217F9-9D97-4431-A89C-CBF74DA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Silent tool failure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75D63-8B3F-42D0-A054-BA58D36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agent proceeds after bad 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35D21-DBD7-47ED-B9B8-D33C655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44DB1F-6DC6-4C96-82AD-460CADE6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Permission drift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5563E-EFC4-4CD1-893D-6BE5AF7F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write/deploy powers expand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0A9CF-01E0-4936-B530-458CD83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FFD14-BC65-4F4B-B308-86E0F196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Review overload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F905A-609A-4F1D-AFA3-6DA94B06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006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humans rubber-stamp huge diffs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237C0-E0A2-4D84-A117-055E1FE7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C0977-4FFB-48E9-BF74-C8D12BA0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Cost opacity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339FA-D056-48BA-A399-F16BDBD3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006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token spend hides in background</a:t>
            </a:r>
          </a:p>
        </p:txBody>
      </p:sp>
    </p:spTree>
    <p:extLst>
      <p:ext uri="{BB962C8B-B14F-4D97-AF65-F5344CB8AC3E}">
        <p14:creationId xmlns:p14="http://schemas.microsoft.com/office/powerpoint/2010/main" val="8430014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B791E-D83C-4110-8043-059FC9DD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9F9C1-B496-400C-BF12-9C42DBD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MAPPING TO THIS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5ABC6-9E1D-4203-8B4B-5ABC44F3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93D8A-1CB8-41E7-BD69-8EB205D1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4F8FB"/>
                </a:solidFill>
              </a:defRPr>
            </a:pPr>
            <a:r>
              <a:rPr sz="2625" b="1">
                <a:solidFill>
                  <a:srgbClr val="F4F8FB"/>
                </a:solidFill>
              </a:rPr>
              <a:t>Software Factory already embodies the paper's agentic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F6D39-F0DD-49C4-8027-0D8C3E65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This repo is a governed AI SDLC pipeline with explicit seams, artifacts, gates, and approval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B6637-BFEE-42D0-9002-0DAAA85E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CAB7E-9BD4-46CD-ABB2-B18FB21B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22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9CEB8-D6B8-4D8D-B5B6-5A58627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10680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92E66-FCD8-410E-A3DE-3793535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36B"/>
                </a:solidFill>
              </a:defRPr>
            </a:pPr>
            <a:r>
              <a:rPr sz="1125" b="1">
                <a:solidFill>
                  <a:srgbClr val="F2C36B"/>
                </a:solidFill>
              </a:rPr>
              <a:t>Paper SDLC 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97379-33CA-4291-88C1-D186D50F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36B"/>
                </a:solidFill>
              </a:defRPr>
            </a:pPr>
            <a:r>
              <a:rPr sz="1125" b="1">
                <a:solidFill>
                  <a:srgbClr val="F2C36B"/>
                </a:solidFill>
              </a:rPr>
              <a:t>Software Factory 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454D5-39CF-4D27-B0B2-F5D65E6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537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36B"/>
                </a:solidFill>
              </a:defRPr>
            </a:pPr>
            <a:r>
              <a:rPr sz="1125" b="1">
                <a:solidFill>
                  <a:srgbClr val="F2C36B"/>
                </a:solidFill>
              </a:rPr>
              <a:t>Concrete repo mechanism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A2731-1646-4012-9DC6-86B89A3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3186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3166D-2AA8-4639-AC01-7944A7A8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7486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Requirements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7BCAC-6B0A-4812-B62E-FAFA699A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87486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intake brain seam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BBEAB-1CFB-4D15-9703-C42069B6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7486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FACTORY_BRAIN=claude or ScriptedBrain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64E07-6894-450F-9EB6-335EB2FA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2221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07B35-E9E8-44DD-AC35-E5799467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6521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099B2-C036-474E-AD77-9A126112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36521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stage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84EA6-803C-4A0E-AA40-9B61E53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6521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plans and decisions before 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4BC5A-3906-48C4-98B2-2ECBCA2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1257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5E153-2241-4858-824B-231C3249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5557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Implementation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557C3-017D-4816-9081-8A8ABD9B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85557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runner seam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A1544-EF1D-44EF-9039-234EEA9F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85557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FACTORY_RUNNER=claude or simulator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01DC22-5ACA-4CB6-B02B-FA99B500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0293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B846F-DE2B-411D-A13B-323E05CB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4593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Verification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A4393-BE05-4B77-9E78-B8D9EA8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34593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machine gates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D5096-9562-4976-9DE0-B15E991F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34593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RED, GREEN plus isolation, review 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5CF1E5-73F1-4607-8EC7-E3EFB49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9329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8583B-E076-4766-A1B5-98926F02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3629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Deployment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012280-8996-4321-80B3-33018138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83629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human merge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D6602-1180-4AB1-AC9B-9E2A5281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83629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POST approve before irreversible merge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6EDE19-F8D1-4BC8-BAC2-864C8EBF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8364"/>
            <a:ext cx="11068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3A4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830054-A88E-4A25-8D6D-1B12722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2664"/>
            <a:ext cx="22098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</a:defRPr>
            </a:pPr>
            <a:r>
              <a:rPr sz="1125" b="1">
                <a:solidFill>
                  <a:srgbClr val="F4F8FB"/>
                </a:solidFill>
              </a:rPr>
              <a:t>Observability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3D3719-F34F-49F7-81C7-E8545D7B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532664"/>
            <a:ext cx="268605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progress_event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B465A7-5BB7-4D0A-8DC5-A63F50C0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32664"/>
            <a:ext cx="5372100" cy="29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append-only two-axis event log</a:t>
            </a:r>
          </a:p>
        </p:txBody>
      </p:sp>
    </p:spTree>
    <p:extLst>
      <p:ext uri="{BB962C8B-B14F-4D97-AF65-F5344CB8AC3E}">
        <p14:creationId xmlns:p14="http://schemas.microsoft.com/office/powerpoint/2010/main" val="64875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DA73C0-873A-491A-A69E-FE2BAAED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99DAF-89B2-442C-A223-502233FF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SOFTWARE FACTORY TECHNICAL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08BBD-6E07-49A1-BDB5-FCF9117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F2421-E2BF-4A4D-AC4D-F07CE911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The project turns the paper's ideas into operating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DBD89-45EB-483A-B3D9-06E95090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The strongest alignment is the governance model: deterministic fallback, bounded execution, test isolation, and escalation.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00A66-8923-40C9-9A39-43A4C4F4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B735A-9960-4E01-9F9F-736788D5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23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6E61D-CB4C-4634-AC78-F169280E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7120D-2EEB-4C98-AEA1-1E07F426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Brain seam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77208-284E-4209-82FB-EED172C0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scripted offline by default; real model behind env var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94F6D-7DEE-4EDE-9B55-2042122B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EEBDF-77C8-45D9-8A2C-A8DF6B1B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Runner seam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AA4F84-82E9-44CB-92C8-105AC456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simulator by default; real Codex/Claude when enabled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8BF62-62ED-488F-9C10-9C6A22EA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911A5-7856-4D86-8ED9-2ADD2F6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Subprocess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861DE-F521-4292-ACCF-9B3AD1A6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timeouts, max turns, sandboxed edit permissions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B701C-8A0D-4B7B-AE99-16C20D1F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3513D-76D7-4DB9-AA20-C7CFD974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Machine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F884D-5957-4C3F-85A1-B123C79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RED fails correctly; GREEN passes without weakening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3B40E-E422-41F5-A081-4E947EF8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A337D-41BD-4633-B45D-7CA138D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Human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EB828-DEBB-4C9D-89F0-B984597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006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merge only after explicit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00455-02B3-4C27-A765-29F517C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78CA4-06B4-4C67-9F8D-6FF65231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Mission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D2DDB-EEA2-4AA7-9575-306A2A4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00600"/>
            <a:ext cx="308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operator view for requests, gates, events, interventions</a:t>
            </a:r>
          </a:p>
        </p:txBody>
      </p:sp>
    </p:spTree>
    <p:extLst>
      <p:ext uri="{BB962C8B-B14F-4D97-AF65-F5344CB8AC3E}">
        <p14:creationId xmlns:p14="http://schemas.microsoft.com/office/powerpoint/2010/main" val="9953195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79DF5-D6E3-45E5-8231-27BA17A7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6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FABBB-6288-481C-8110-F04E1F6F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36B"/>
                </a:solidFill>
              </a:defRPr>
            </a:pPr>
            <a:r>
              <a:rPr sz="975" b="1">
                <a:solidFill>
                  <a:srgbClr val="F2C36B"/>
                </a:solidFill>
              </a:rPr>
              <a:t>OVERALL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4CF9D-7037-4366-8B38-09F405C7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1B2"/>
                </a:solidFill>
              </a:defRPr>
            </a:pPr>
            <a:r>
              <a:rPr sz="975" b="0">
                <a:solidFill>
                  <a:srgbClr val="91A1B2"/>
                </a:solidFill>
              </a:rPr>
              <a:t>The New SDLC With 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3446-5F9F-4AF2-8855-86976E76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990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8FB"/>
                </a:solidFill>
              </a:defRPr>
            </a:pPr>
            <a:r>
              <a:rPr sz="3225" b="1">
                <a:solidFill>
                  <a:srgbClr val="F4F8FB"/>
                </a:solidFill>
              </a:rPr>
              <a:t>A governed operating system for AI software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E209C-DBC6-4D0B-B066-2ED3C86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CEDA"/>
                </a:solidFill>
              </a:defRPr>
            </a:pPr>
            <a:r>
              <a:rPr sz="1500" b="0">
                <a:solidFill>
                  <a:srgbClr val="C2CEDA"/>
                </a:solidFill>
              </a:rPr>
              <a:t>Software Factory makes direction, verification, and supervision first-class product surfaces.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25BDF-7425-45A5-BC6F-DB114215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Source: user-provided PDF and Software Factory repo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A11AD-B673-4469-B705-58231EAF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1B2"/>
                </a:solidFill>
              </a:defRPr>
            </a:pPr>
            <a:r>
              <a:rPr sz="825" b="0">
                <a:solidFill>
                  <a:srgbClr val="91A1B2"/>
                </a:solidFill>
              </a:rPr>
              <a:t>24 / 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78888-1055-494D-88F9-F6A86B5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5CEE1-FCED-4D97-96C7-653661BD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For builders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22E9B-A4A0-4653-9E35-F3E454DD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turn a request into a supervised SDLC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88532-B3E5-450A-8944-E5BB301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68B5D-4548-42EA-9C33-75DA5CFA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For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64455-FB2A-453B-83F3-741D8C15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718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standardize context, gates, and review expectations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10B27-4D74-4586-8B4A-921905D1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B34B5-C1A7-47BE-9BD4-A6EA301E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For leaders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C258A-56C9-4548-B685-7B1FE19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see work health, risk, cost, and approval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3CEA4-D006-48C2-A4A1-B03C2153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571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2732"/>
          </a:solidFill>
          <a:ln xmlns:a="http://schemas.openxmlformats.org/drawingml/2006/main" w="9525">
            <a:solidFill>
              <a:srgbClr val="3A4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B3046-5F53-46FE-A2F4-C0255554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8FB"/>
                </a:solidFill>
              </a:defRPr>
            </a:pPr>
            <a:r>
              <a:rPr sz="1650" b="1">
                <a:solidFill>
                  <a:srgbClr val="F4F8FB"/>
                </a:solidFill>
              </a:rPr>
              <a:t>For the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64EF9-28DB-4EB8-93CE-4613099F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2228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EDA"/>
                </a:solidFill>
              </a:defRPr>
            </a:pPr>
            <a:r>
              <a:rPr sz="1125" b="0">
                <a:solidFill>
                  <a:srgbClr val="C2CEDA"/>
                </a:solidFill>
              </a:rPr>
              <a:t>swap brains and runners without changing the domain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0C7CC-FCB1-45B0-8487-F267CCAC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10680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6261F"/>
          </a:solidFill>
          <a:ln xmlns:a="http://schemas.openxmlformats.org/drawingml/2006/main" w="9525">
            <a:solidFill>
              <a:srgbClr val="786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57E95-8721-40BF-BDDF-46C90EEB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36B"/>
                </a:solidFill>
              </a:defRPr>
            </a:pPr>
            <a:r>
              <a:rPr sz="1200" b="1">
                <a:solidFill>
                  <a:srgbClr val="F2C36B"/>
                </a:solidFill>
              </a:rPr>
              <a:t>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34495-DFFF-440B-9676-5C76D8E8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244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/Users/wongjunmun/development/ai-development/software-factory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13582-ECE3-4F2B-A8A0-65EB52CC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36B"/>
                </a:solidFill>
              </a:defRPr>
            </a:pPr>
            <a:r>
              <a:rPr sz="1200" b="1">
                <a:solidFill>
                  <a:srgbClr val="F2C36B"/>
                </a:solidFill>
              </a:rPr>
              <a:t>Useful commands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58E7E-140A-4F53-A1B3-A1CF0F55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make verify</a:t>
            </a:r>
          </a:p>
          <a:p xmlns:a="http://schemas.openxmlformats.org/drawingml/2006/main">
            <a:pPr algn="l">
              <a:defRPr sz="1200" b="1">
                <a:solidFill>
                  <a:srgbClr val="F4F8FB"/>
                </a:solidFill>
              </a:defRPr>
            </a:pPr>
            <a:r>
              <a:rPr sz="1200" b="1">
                <a:solidFill>
                  <a:srgbClr val="F4F8FB"/>
                </a:solidFill>
              </a:rPr>
              <a:t>FACTORY_RUNNER=claude uv run uvicorn app.main:app --port 8000</a:t>
            </a:r>
          </a:p>
        </p:txBody>
      </p:sp>
    </p:spTree>
    <p:extLst>
      <p:ext uri="{BB962C8B-B14F-4D97-AF65-F5344CB8AC3E}">
        <p14:creationId xmlns:p14="http://schemas.microsoft.com/office/powerpoint/2010/main" val="2009256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2026-06-16T15:53:11.6410000Z</dcterms:created>
  <dcterms:modified xsi:type="dcterms:W3CDTF">2026-06-16T15:53:11.6410000Z</dcterms:modified>
</coreProperties>
</file>